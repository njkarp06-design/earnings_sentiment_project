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//Developers_Institute_  Coding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</a:rPr>
              <a:t>EarningsSentiment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0D48A"/>
                </a:solidFill>
              </a:rPr>
              <a:t>Does how a CEO speaks on an earnings call predict what the stock does next?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246120"/>
            <a:ext cx="5943600" cy="3657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015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Real-time AI platform  ·  earnings call NLP  ·  post-call price correlation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977639"/>
            <a:ext cx="2697480" cy="1554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977639"/>
            <a:ext cx="2697480" cy="640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690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D48A"/>
                </a:solidFill>
              </a:rPr>
              <a:t>~10,000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46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companies
searchable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3977639"/>
            <a:ext cx="2697480" cy="1554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3977639"/>
            <a:ext cx="269748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40690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8BDF8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4846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AI signals
per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3977639"/>
            <a:ext cx="2697480" cy="1554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3977639"/>
            <a:ext cx="269748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40690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BBF24"/>
                </a:solidFill>
              </a:rPr>
              <a:t>730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4846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days of history
per CEO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61704" y="3977639"/>
            <a:ext cx="2697480" cy="1554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61704" y="3977639"/>
            <a:ext cx="269748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584" y="40690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A78BFA"/>
                </a:solidFill>
              </a:rPr>
              <a:t>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4846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token cost cut
via caching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309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Natanel Karp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0" y="4572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82430"/>
                </a:solidFill>
              </a:rPr>
              <a:t>3,000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94A3B8"/>
                </a:solidFill>
              </a:rPr>
              <a:t>Every quarter,</a:t>
            </a:r>
          </a:p>
          <a:p>
            <a:pPr algn="l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</a:rPr>
              <a:t>~3,000 US companies hold earnings calls.</a:t>
            </a:r>
          </a:p>
          <a:p>
            <a:pPr algn="l">
              <a:spcBef>
                <a:spcPts val="400"/>
              </a:spcBef>
            </a:pPr>
            <a:r>
              <a:rPr sz="2800" b="0">
                <a:solidFill>
                  <a:srgbClr val="94A3B8"/>
                </a:solidFill>
              </a:rPr>
              <a:t>Billions of dollars of trading</a:t>
            </a:r>
          </a:p>
          <a:p>
            <a:pPr algn="l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</a:rPr>
              <a:t>decisions follow.</a:t>
            </a:r>
          </a:p>
          <a:p>
            <a:pPr algn="l">
              <a:spcBef>
                <a:spcPts val="400"/>
              </a:spcBef>
            </a:pPr>
            <a:r>
              <a:rPr sz="2800" b="0">
                <a:solidFill>
                  <a:srgbClr val="94A3B8"/>
                </a:solidFill>
              </a:rPr>
              <a:t>None of it is systematically</a:t>
            </a:r>
          </a:p>
          <a:p>
            <a:pPr algn="l"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</a:rPr>
              <a:t>measured.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53328"/>
            <a:ext cx="7315200" cy="3657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447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</a:rPr>
              <a:t>EarningsSentiment builds the measurement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48A"/>
                </a:solidFill>
              </a:rPr>
              <a:t>Four steps from filing to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2560320" cy="43891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256032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223045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68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</a:rPr>
              <a:t>INGEST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3017520"/>
            <a:ext cx="2157984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127248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SEC EDGAR &amp; FMP
transcripts arrive
within seconds
of filing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3474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8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0168" y="1463040"/>
            <a:ext cx="2560320" cy="43891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0168" y="1463040"/>
            <a:ext cx="2560320" cy="10972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1572768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223045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6" y="2468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8A"/>
                </a:solidFill>
              </a:rPr>
              <a:t>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1336" y="3017520"/>
            <a:ext cx="2157984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1336" y="3127248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Claude AI extracts
5 signals from
every CEO's
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474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8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7416" y="1463040"/>
            <a:ext cx="2560320" cy="43891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57416" y="1463040"/>
            <a:ext cx="256032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8856" y="1572768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223045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2468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</a:rPr>
              <a:t>CORRELATE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58584" y="3017520"/>
            <a:ext cx="2157984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8584" y="3127248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1d, 3d, 7d stock
returns fetched
automatically
via yfinance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3474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8A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84664" y="1463040"/>
            <a:ext cx="2560320" cy="43891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84664" y="1463040"/>
            <a:ext cx="2560320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76104" y="1572768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223045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2468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78BFA"/>
                </a:solidFill>
              </a:rPr>
              <a:t>SURFACE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85832" y="3017520"/>
            <a:ext cx="2157984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5832" y="3127248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Feed, leaderboard,
company pages,
calendar, and
portfolio watchlist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989320"/>
            <a:ext cx="11183112" cy="475488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062472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8A"/>
                </a:solidFill>
              </a:rPr>
              <a:t>Self-validating by design — every prediction is automatically back-tested against real post-call returns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48A"/>
                </a:solidFill>
              </a:rPr>
              <a:t>What Claude extracts from every earnings call — the differentiating 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4754880" cy="5120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475488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TRANSCRIPT EXCERPT  —  AAPL Q1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93392"/>
            <a:ext cx="438912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21408"/>
            <a:ext cx="4434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</a:rPr>
              <a:t>"Our guidance for fiscal year 2026 reflects our
confidence in continued strong demand across
our product lines. We are raising full-year EPS
guidance to $7.20, up from our prior range.
During Q&amp;A, when pressed on supply constraints,
management responded: 'We have robust supply
chain visibility and remain confident our
commitments will be met on schedule.'"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74920"/>
            <a:ext cx="438912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19379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</a:rPr>
              <a:t>Sent to Claude with cached system prompt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38328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8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5486400" cy="8686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164592" cy="8686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5361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Confidence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8A"/>
                </a:solidFill>
              </a:rPr>
              <a:t>82 /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193852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Overall CEO language confidence — graded from crisis (0) to exceptional (100)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468880"/>
            <a:ext cx="5486400" cy="8686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468880"/>
            <a:ext cx="164592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542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Guidance Flag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</a:rPr>
              <a:t>RAISED 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94436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Management raised, maintained, lowered, or withdrew forward guidance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474720"/>
            <a:ext cx="5486400" cy="8686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474720"/>
            <a:ext cx="164592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3547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Q&amp;A Defensiveness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66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38BDF8"/>
                </a:solidFill>
              </a:rPr>
              <a:t>2 /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395020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How evasive management became during analyst questions vs. prepared remarks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480560"/>
            <a:ext cx="5486400" cy="8686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480560"/>
            <a:ext cx="164592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45537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Phrases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572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A78BFA"/>
                </a:solidFill>
              </a:rPr>
              <a:t>Top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495604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The 3 verbatim phrases that moved the score most — direct from the transcript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486400"/>
            <a:ext cx="5486400" cy="8686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5486400"/>
            <a:ext cx="164592" cy="8686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55595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Trade Brief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94A3B8"/>
                </a:solidFill>
              </a:rPr>
              <a:t>2 sentences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596188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Plain-English signal for a short-term trader: tone + most important fwd statement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6583680"/>
            <a:ext cx="5486400" cy="530352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6675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8A"/>
                </a:solidFill>
              </a:rPr>
              <a:t>System prompt cached  →  ~80% latency reduction  ·  ~90% token-cost saving on cache hits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48A"/>
                </a:solidFill>
              </a:rPr>
              <a:t>Event-driven microservices — 5 containerised services, Kafka backbone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63040"/>
            <a:ext cx="2148840" cy="3611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214884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60020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Ingestor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286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2651760"/>
            <a:ext cx="187452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74320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SEC EDGAR
FMP / Alpha Vantage
Polls every 2 h
seeds ~10k companies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3017520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8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463040"/>
            <a:ext cx="2148840" cy="3611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1463040"/>
            <a:ext cx="2148840" cy="914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60020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Scoring
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286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8A"/>
                </a:solidFill>
              </a:rPr>
              <a:t>Python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2651760"/>
            <a:ext cx="187452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274320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Consumes
raw-transcripts
Claude AI → 5 signals
→ scored-transcripts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3017520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8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336" y="1463040"/>
            <a:ext cx="2148840" cy="3611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74336" y="1463040"/>
            <a:ext cx="21488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1496" y="160020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Correlation
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2286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Python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2651760"/>
            <a:ext cx="187452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11496" y="274320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Consumes
scored-transcripts
yfinance returns
→ MongoDB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017520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8A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1463040"/>
            <a:ext cx="2148840" cy="3611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1463040"/>
            <a:ext cx="2148840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60020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BFF
REST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286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Node.js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651760"/>
            <a:ext cx="187452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274320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Express + JWT auth
15+ endpoints
Reads MongoDB
production-hardened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4" y="3017520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8A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64624" y="1463040"/>
            <a:ext cx="2148840" cy="3611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64624" y="1463040"/>
            <a:ext cx="2148840" cy="91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01784" y="160020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1784" y="2286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Next.js 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01784" y="2651760"/>
            <a:ext cx="187452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1784" y="274320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6 product views
Recharts charts
SSE streaming
Tailwind CSS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5230368"/>
            <a:ext cx="8778240" cy="475488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30352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</a:rPr>
              <a:t>Apache Kafka   |   raw-transcripts  ·  raw-prices  ·  scored-transcripts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5230368"/>
            <a:ext cx="2523744" cy="475488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0032" y="5303520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MongoDB  |  price_reactions · scores · users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5833872"/>
            <a:ext cx="11420856" cy="621792"/>
          </a:xfrm>
          <a:prstGeom prst="rect">
            <a:avLst/>
          </a:prstGeom>
          <a:solidFill>
            <a:srgbClr val="0E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943600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Production  :  AWS ECS Fargate  ·  Amazon MSK  ·  MongoDB Atlas  ·  ECR  ·  ALB x2  ·  Terraform  ·  GitHub Actions CI/CD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Product —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48A"/>
                </a:solidFill>
              </a:rPr>
              <a:t>Real data. Real companies. Running now.</a:t>
            </a:r>
          </a:p>
        </p:txBody>
      </p:sp>
      <p:pic>
        <p:nvPicPr>
          <p:cNvPr id="5" name="Picture 4" descr="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17320"/>
            <a:ext cx="6967728" cy="48188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6263640"/>
            <a:ext cx="6967728" cy="329184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09360"/>
            <a:ext cx="6720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</a:rPr>
              <a:t>Earnings Feed  —  live CEO confidence scores, key phrases, 1d / 3d / 7d returns</a:t>
            </a:r>
          </a:p>
        </p:txBody>
      </p:sp>
      <p:pic>
        <p:nvPicPr>
          <p:cNvPr id="8" name="Picture 7" descr="compa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1417320"/>
            <a:ext cx="4288536" cy="48188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16368" y="6263640"/>
            <a:ext cx="4288536" cy="329184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6309360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Company deep-dive  —  SNOW: 12 calls tracked, +35.95% last 7D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Product — All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48A"/>
                </a:solidFill>
              </a:rPr>
              <a:t>Six views built, all running on AWS</a:t>
            </a:r>
          </a:p>
        </p:txBody>
      </p:sp>
      <p:pic>
        <p:nvPicPr>
          <p:cNvPr id="5" name="Picture 4" descr="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17320"/>
            <a:ext cx="5925312" cy="2331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3749040"/>
            <a:ext cx="5925312" cy="27432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3794760"/>
            <a:ext cx="5742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8A"/>
                </a:solidFill>
              </a:rPr>
              <a:t>Leaderboard  —  CRWD 91% win rate · ranked by avg 7D return</a:t>
            </a:r>
          </a:p>
        </p:txBody>
      </p:sp>
      <p:pic>
        <p:nvPicPr>
          <p:cNvPr id="8" name="Picture 7" descr="s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417320"/>
            <a:ext cx="5925312" cy="2331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83096" y="3749040"/>
            <a:ext cx="5925312" cy="27432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2824" y="3794760"/>
            <a:ext cx="5742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Sector Pulse  —  Energy +3.77% · Technology 199 calls</a:t>
            </a:r>
          </a:p>
        </p:txBody>
      </p:sp>
      <p:pic>
        <p:nvPicPr>
          <p:cNvPr id="11" name="Picture 10" descr="portfol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151376"/>
            <a:ext cx="5925312" cy="23317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4048" y="6483096"/>
            <a:ext cx="5925312" cy="27432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6528816"/>
            <a:ext cx="5742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Portfolio  —  DELL +32.76% 1D, AAPL +7.96% 7D</a:t>
            </a:r>
          </a:p>
        </p:txBody>
      </p:sp>
      <p:pic>
        <p:nvPicPr>
          <p:cNvPr id="14" name="Picture 13" descr="insp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4151376"/>
            <a:ext cx="5925312" cy="23317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483096" y="6483096"/>
            <a:ext cx="5925312" cy="27432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6528816"/>
            <a:ext cx="5742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Call Inspect  —  AMD post-earnings drift · 11 prior calls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48A"/>
                </a:solidFill>
              </a:rPr>
              <a:t>The scale of what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63040"/>
            <a:ext cx="2606040" cy="21762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463040"/>
            <a:ext cx="2606040" cy="914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2331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8A"/>
                </a:solidFill>
              </a:rPr>
              <a:t>~10,000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6148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companies
searchable from EDGAR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463040"/>
            <a:ext cx="2606040" cy="21762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463040"/>
            <a:ext cx="260604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627632"/>
            <a:ext cx="2331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8BDF8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76148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AI signals extracted
from every 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1463040"/>
            <a:ext cx="2606040" cy="21762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01968" y="1463040"/>
            <a:ext cx="26060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1627632"/>
            <a:ext cx="2331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BBF24"/>
                </a:solidFill>
              </a:rPr>
              <a:t>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76148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Technology sector calls
across 17 companies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92056" y="1463040"/>
            <a:ext cx="2606040" cy="21762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92056" y="1463040"/>
            <a:ext cx="2606040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74936" y="1627632"/>
            <a:ext cx="2331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A78BFA"/>
                </a:solidFill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4936" y="276148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token-cost reduction
via prompt caching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3913632"/>
            <a:ext cx="2606040" cy="21762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3913632"/>
            <a:ext cx="2606040" cy="914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078224"/>
            <a:ext cx="2331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8A"/>
                </a:solidFill>
              </a:rPr>
              <a:t>91%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21208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CRWD win rate —
highest on leaderboard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3913632"/>
            <a:ext cx="2606040" cy="21762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11880" y="3913632"/>
            <a:ext cx="260604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078224"/>
            <a:ext cx="2331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8BDF8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21208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microservices
deployed on AWS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1968" y="3913632"/>
            <a:ext cx="2606040" cy="21762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01968" y="3913632"/>
            <a:ext cx="26060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4078224"/>
            <a:ext cx="2331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BBF24"/>
                </a:solidFill>
              </a:rPr>
              <a:t>+35.95%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521208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SNOW last 7D return
after high-score call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92056" y="3913632"/>
            <a:ext cx="2606040" cy="21762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3913632"/>
            <a:ext cx="2606040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74936" y="4078224"/>
            <a:ext cx="2331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A78BFA"/>
                </a:solidFill>
              </a:rPr>
              <a:t>15+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4936" y="521208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REST API endpoints
with JWT auth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48A"/>
                </a:solidFill>
              </a:rPr>
              <a:t>Tools, languages, and services — grouped by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3611880" cy="5074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3611880" cy="10972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8A"/>
                </a:solidFill>
              </a:rPr>
              <a:t>Data &amp; AI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84831"/>
            <a:ext cx="3246120" cy="3657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Python 3.12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5234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Apache Kafka  (3 topics)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39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SEC EDGAR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31335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FMP / Alpha 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70831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Claude claude-sonnet-4-6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10327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Anthropic SDK + prompt caching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498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yfinance (price 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893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APScheduler  (ingest schedule)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1444752"/>
            <a:ext cx="3611880" cy="5074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98848" y="1444752"/>
            <a:ext cx="361188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160020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</a:rPr>
              <a:t>Application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728" y="2084831"/>
            <a:ext cx="3246120" cy="3657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2128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Node.js  /  Express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275234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MongoDB  +  Mongoose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291839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JWT 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3831335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bcryptjs  (password hashing)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370831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Resend  (email alerts)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910327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REST API  (15+ endpoints)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54498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Flask sidecar  (ingest trigger)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59893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Docker  /  Docker Compose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94776" y="1444752"/>
            <a:ext cx="3611880" cy="5074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94776" y="1444752"/>
            <a:ext cx="361188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77656" y="160020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</a:rPr>
              <a:t>Frontend &amp; Infra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77656" y="2084831"/>
            <a:ext cx="3246120" cy="3657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77656" y="22128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Next.js 14  (App Router)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7656" y="275234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React 18  +  Tailwind CSS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7656" y="3291839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Recharts  (data visualisation)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7656" y="3831335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AWS ECS Fargate  (5 services)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77656" y="4370831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Amazon MSK  (managed Kafka)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7656" y="4910327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MongoDB Atlas  (cloud DB)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77656" y="54498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ECR  +  ALB x2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77656" y="59893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  Terraform  +  GitHub Actions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92240"/>
            <a:ext cx="11183112" cy="256032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519672"/>
            <a:ext cx="10908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Kafka chosen for decoupled stream processing  ·  Prompt caching chosen for cost/latency  ·  Terraform for reproducible AWS infra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48A"/>
                </a:solidFill>
              </a:rPr>
              <a:t>Next 4 priorities — ordered by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11365992" cy="1143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55448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8A"/>
                </a:solidFill>
              </a:rPr>
              <a:t>1  FMP Data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011680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Upgrade tier  ·  forced re-backfill endpoint  ·  full 5-year history per ticker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664208"/>
            <a:ext cx="2226979" cy="7498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10512"/>
            <a:ext cx="21355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Wk 1-3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715768"/>
            <a:ext cx="11365992" cy="114300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80720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2  Predictability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264408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Score-to-return scatter  ·  Pearson r regression  ·  CEO Predictability badge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7696" y="2916936"/>
            <a:ext cx="2598142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136" y="3063240"/>
            <a:ext cx="250670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Wk 3-6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968496"/>
            <a:ext cx="11365992" cy="1143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4059936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3  UX Clarity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517136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Tooltips for % win, Avg Score, thresholds, and pending return badges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94676" y="4169664"/>
            <a:ext cx="2004281" cy="7498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6116" y="4315968"/>
            <a:ext cx="191284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Wk 6-8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221224"/>
            <a:ext cx="11365992" cy="114300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531266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4  Score Trend + Sector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5769864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Confidence trend over 4-6 quarters  ·  returns vs. sector benchmark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79329" y="5422392"/>
            <a:ext cx="2449677" cy="7498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0769" y="5568696"/>
            <a:ext cx="235823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Wk 8-10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1463040"/>
            <a:ext cx="27432" cy="501091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11880" y="1463040"/>
            <a:ext cx="18288" cy="5010912"/>
          </a:xfrm>
          <a:prstGeom prst="rect">
            <a:avLst/>
          </a:prstGeom>
          <a:solidFill>
            <a:srgbClr val="24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65288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96533" y="1463040"/>
            <a:ext cx="18288" cy="5010912"/>
          </a:xfrm>
          <a:prstGeom prst="rect">
            <a:avLst/>
          </a:prstGeom>
          <a:solidFill>
            <a:srgbClr val="24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1941" y="65288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1186" y="1463040"/>
            <a:ext cx="18288" cy="5010912"/>
          </a:xfrm>
          <a:prstGeom prst="rect">
            <a:avLst/>
          </a:prstGeom>
          <a:solidFill>
            <a:srgbClr val="24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6594" y="65288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65839" y="1463040"/>
            <a:ext cx="18288" cy="5010912"/>
          </a:xfrm>
          <a:prstGeom prst="rect">
            <a:avLst/>
          </a:prstGeom>
          <a:solidFill>
            <a:srgbClr val="24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1247" y="65288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0492" y="1463040"/>
            <a:ext cx="18288" cy="5010912"/>
          </a:xfrm>
          <a:prstGeom prst="rect">
            <a:avLst/>
          </a:prstGeom>
          <a:solidFill>
            <a:srgbClr val="24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85900" y="65288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035145" y="1463040"/>
            <a:ext cx="18288" cy="5010912"/>
          </a:xfrm>
          <a:prstGeom prst="rect">
            <a:avLst/>
          </a:prstGeom>
          <a:solidFill>
            <a:srgbClr val="24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70553" y="65288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My 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11365992" cy="1143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640080" cy="1143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09928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</a:rPr>
              <a:t>Fix FMP Data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47672"/>
            <a:ext cx="10588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Upgrade FMP tier and ship a forced re-backfill endpoint. Data quality is the foundation — without a full 5-year call history the predictability model is built on sand.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79192"/>
            <a:ext cx="11365992" cy="1143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679192"/>
            <a:ext cx="640080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71800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706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Ship the CEO Predictability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9544"/>
            <a:ext cx="10588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Build the per-company score-to-return scatter with a Pearson r regression line and surface the Predictability Score prominently. This is the single most differentiated feature on the platform.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941064"/>
            <a:ext cx="11365992" cy="1143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941064"/>
            <a:ext cx="640080" cy="1143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233672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250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</a:rPr>
              <a:t>UX 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71416"/>
            <a:ext cx="10588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Add inline tooltips for every metric — % win, Avg Score, score thresholds, pending return badges. Low-lift, high-impact: makes the platform accessible to non-quant users without dumbing it down.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202936"/>
            <a:ext cx="11365992" cy="1143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202936"/>
            <a:ext cx="640080" cy="1143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49554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9437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</a:rPr>
              <a:t>Score Trend + Sector-Relative Returns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733288"/>
            <a:ext cx="10588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Show confidence score trend over the last 4-6 quarters and post-call returns adjusted for sector movement. Adds the analytical depth expected by sophisticated users and portfolio managers.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9445752" cy="8046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182880" cy="80467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1640" y="1581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</a:rP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00200"/>
            <a:ext cx="6858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github.com/njkarp06-design/earnings_sentiment_project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423160"/>
            <a:ext cx="9445752" cy="8046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423160"/>
            <a:ext cx="182880" cy="8046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2542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Demo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6858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loom.com/share/f538f79d328f420aac248f0383ebb3ee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383280"/>
            <a:ext cx="9445752" cy="8046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383280"/>
            <a:ext cx="182880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3502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</a:rPr>
              <a:t>Deployed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20440"/>
            <a:ext cx="6858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njkarp06-design.github.io/earnings_sentiment_project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Career Prep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11365992" cy="12344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201168" cy="12344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08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Natanel Karp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299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Junior full-stack developer who treats AI tooling as part of the stack.  Built this project end-to-end.  Hackathon Winner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34640"/>
            <a:ext cx="5577840" cy="10972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834640"/>
            <a:ext cx="164592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9260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Full-Stack Dev Intern  —  Horizon Trade Tech (May-Jun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33756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In-memory LRU cache: ~700x speedup (97ms to 0.14ms p50). Solved 502 errors traced to cold EBS snapshot reads on Fargate.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834640"/>
            <a:ext cx="5577840" cy="10972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834640"/>
            <a:ext cx="164592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9260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AI Data Analyst Intern  —  Elevata Ventures / Brevan Howard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33756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Built AI-driven investment evaluation system with Claude Code. Applied to 45+ startups. Briefed Brevan Howard on AI strategy.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96512"/>
            <a:ext cx="5577840" cy="10972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96512"/>
            <a:ext cx="164592" cy="1097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18795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Education  —  Developers Institute + Hasmonean A-Levels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599432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AI &amp; Full-Stack Diploma (2026). A-Levels: Mathematics 96%, Further Mathematics, Economics, Psychology.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096512"/>
            <a:ext cx="5577840" cy="10972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096512"/>
            <a:ext cx="164592" cy="10972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18795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</a:rPr>
              <a:t>Achievements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599432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Author: 'Rumination' (60,000-word manuscript).  Gold, UKMT Senior Maths Challenge 2024.  Competitive distance runner.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440680"/>
            <a:ext cx="3678936" cy="77724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504688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8A"/>
                </a:solidFill>
              </a:rPr>
              <a:t>CV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52160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drive.google.com/file/d/1xvYOBGgMApOvlOSh_a2i1uAQ64rfpEqE/view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144" y="5440680"/>
            <a:ext cx="3678936" cy="77724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3024" y="5504688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LinkedIn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5852160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linkedin.com/in/natanel-karp-6890aa3b3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